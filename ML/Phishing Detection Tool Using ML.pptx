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 Tight Medium"/>
      <p:regular r:id="rId19"/>
      <p:bold r:id="rId20"/>
      <p:italic r:id="rId21"/>
      <p:boldItalic r:id="rId22"/>
    </p:embeddedFont>
    <p:embeddedFont>
      <p:font typeface="Amatic SC"/>
      <p:regular r:id="rId23"/>
      <p:bold r:id="rId24"/>
    </p:embeddedFont>
    <p:embeddedFont>
      <p:font typeface="Source Code Pro"/>
      <p:regular r:id="rId25"/>
      <p:bold r:id="rId26"/>
      <p:italic r:id="rId27"/>
      <p:boldItalic r:id="rId28"/>
    </p:embeddedFont>
    <p:embeddedFont>
      <p:font typeface="Inter Tight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Inter Tight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TightSemiBold-boldItalic.fntdata"/><Relationship Id="rId20" Type="http://schemas.openxmlformats.org/officeDocument/2006/relationships/font" Target="fonts/InterTightMedium-bold.fntdata"/><Relationship Id="rId22" Type="http://schemas.openxmlformats.org/officeDocument/2006/relationships/font" Target="fonts/InterTightMedium-boldItalic.fntdata"/><Relationship Id="rId21" Type="http://schemas.openxmlformats.org/officeDocument/2006/relationships/font" Target="fonts/InterTightMedium-italic.fntdata"/><Relationship Id="rId24" Type="http://schemas.openxmlformats.org/officeDocument/2006/relationships/font" Target="fonts/AmaticSC-bold.fntdata"/><Relationship Id="rId23" Type="http://schemas.openxmlformats.org/officeDocument/2006/relationships/font" Target="fonts/Amatic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-italic.fntdata"/><Relationship Id="rId30" Type="http://schemas.openxmlformats.org/officeDocument/2006/relationships/font" Target="fonts/InterTight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InterTight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37" Type="http://schemas.openxmlformats.org/officeDocument/2006/relationships/font" Target="fonts/InterTight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Tight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InterTightSemiBold-bold.fntdata"/><Relationship Id="rId19" Type="http://schemas.openxmlformats.org/officeDocument/2006/relationships/font" Target="fonts/InterTigh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f2014ecf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f2014ecf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f2014ec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4f2014ec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f2014ecf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f2014ecf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d7afcc6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4d7afcc6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f2014ecf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4f2014ecf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4ddda588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4ddda588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4d7afcc61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4d7afcc61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4f2014ecfe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4f2014ecfe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4ddda588a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4ddda588a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4f2014ecf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4f2014ecf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d81683ee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d81683e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f2014ecfe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4f2014ecfe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8" name="Google Shape;58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9" name="Google Shape;59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3" name="Google Shape;63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5" name="Google Shape;65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1" name="Google Shape;111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" name="Google Shape;112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6" name="Google Shape;116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" name="Google Shape;132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1" name="Google Shape;141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" name="Google Shape;144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" name="Google Shape;157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" name="Google Shape;168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7" name="Google Shape;187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" name="Google Shape;188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9" name="Google Shape;189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2" name="Google Shape;202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3" name="Google Shape;203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1" name="Google Shape;211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21" name="Google Shape;221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2" name="Google Shape;222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3" name="Google Shape;223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4" name="Google Shape;224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3" name="Google Shape;233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40" name="Google Shape;240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0" name="Google Shape;250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3" name="Google Shape;253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" name="Google Shape;254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5" name="Google Shape;255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6" name="Google Shape;256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0" name="Google Shape;260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61" name="Google Shape;261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4" name="Google Shape;264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6" name="Google Shape;266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7" name="Google Shape;267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9" name="Google Shape;269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2" name="Google Shape;272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5" name="Google Shape;275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6" name="Google Shape;276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7" name="Google Shape;277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2" name="Google Shape;282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5" name="Google Shape;285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6" name="Google Shape;286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7" name="Google Shape;287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8" name="Google Shape;288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9" name="Google Shape;289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3" name="Google Shape;293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9" name="Google Shape;299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0" name="Google Shape;300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6" name="Google Shape;306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7" name="Google Shape;307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1" name="Google Shape;311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2" name="Google Shape;312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4" name="Google Shape;314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7" name="Google Shape;317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8" name="Google Shape;318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21" name="Google Shape;321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2" name="Google Shape;322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3" name="Google Shape;323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4" name="Google Shape;324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5" name="Google Shape;325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0" name="Google Shape;330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3" name="Google Shape;333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4" name="Google Shape;334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5" name="Google Shape;335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6" name="Google Shape;336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7" name="Google Shape;347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8" name="Google Shape;348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9" name="Google Shape;349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1" name="Google Shape;351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2" name="Google Shape;352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3" name="Google Shape;353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4" name="Google Shape;354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5" name="Google Shape;355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7" name="Google Shape;357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61" name="Google Shape;361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ctrTitle"/>
          </p:nvPr>
        </p:nvSpPr>
        <p:spPr>
          <a:xfrm>
            <a:off x="1826325" y="1559575"/>
            <a:ext cx="54948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Phishing Detection Tool Using Machine Learning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67" name="Google Shape;367;p52"/>
          <p:cNvSpPr txBox="1"/>
          <p:nvPr>
            <p:ph idx="1" type="subTitle"/>
          </p:nvPr>
        </p:nvSpPr>
        <p:spPr>
          <a:xfrm>
            <a:off x="1826325" y="3252475"/>
            <a:ext cx="54948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D.Tejaswi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AP22110011503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CSE-Y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April 19, 2025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53"/>
          <p:cNvSpPr txBox="1"/>
          <p:nvPr>
            <p:ph type="title"/>
          </p:nvPr>
        </p:nvSpPr>
        <p:spPr>
          <a:xfrm>
            <a:off x="2604150" y="-141400"/>
            <a:ext cx="39357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3"/>
          <p:cNvSpPr txBox="1"/>
          <p:nvPr>
            <p:ph idx="1" type="body"/>
          </p:nvPr>
        </p:nvSpPr>
        <p:spPr>
          <a:xfrm>
            <a:off x="2372775" y="271575"/>
            <a:ext cx="4871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Understanding Phishing and Its Significance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75" name="Google Shape;375;p53"/>
          <p:cNvSpPr txBox="1"/>
          <p:nvPr>
            <p:ph idx="3" type="subTitle"/>
          </p:nvPr>
        </p:nvSpPr>
        <p:spPr>
          <a:xfrm>
            <a:off x="972600" y="946100"/>
            <a:ext cx="7198800" cy="41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r>
              <a:rPr b="1" lang="en" sz="15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Phishing attacks deceive users into revealing sensitive information by imitating legitimate websites or trusted contacts through emails. This project aims to develop a machine learning-based tool that detects both phishing URLs and phishing emails in real-time by analyzing key features. The tool offers a user-friendly web interface where users can input URLs or email content to check if they are safe or malicious, thereby enhancing online security and user awareness.</a:t>
            </a:r>
            <a:endParaRPr b="1"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Develop an intelligent system to classify emails and URLs as "Phishing" or "Safe" with high precision and recall.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Need for ML</a:t>
            </a: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Manual detection is unscalable and error-prone.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Machine learning enables real-time, adaptive classification of phishing artifacts.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54"/>
          <p:cNvSpPr txBox="1"/>
          <p:nvPr>
            <p:ph type="title"/>
          </p:nvPr>
        </p:nvSpPr>
        <p:spPr>
          <a:xfrm>
            <a:off x="333925" y="587150"/>
            <a:ext cx="84756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Challenges and Solutions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4"/>
          <p:cNvSpPr txBox="1"/>
          <p:nvPr/>
        </p:nvSpPr>
        <p:spPr>
          <a:xfrm>
            <a:off x="567625" y="1254875"/>
            <a:ext cx="7644600" cy="4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Challenge</a:t>
            </a:r>
            <a:r>
              <a:rPr lang="en" sz="1500">
                <a:solidFill>
                  <a:schemeClr val="accent1"/>
                </a:solidFill>
              </a:rPr>
              <a:t>: </a:t>
            </a:r>
            <a:r>
              <a:rPr b="1" lang="en" sz="1500">
                <a:solidFill>
                  <a:schemeClr val="accent1"/>
                </a:solidFill>
              </a:rPr>
              <a:t>Gmail API</a:t>
            </a:r>
            <a:r>
              <a:rPr lang="en" sz="1500">
                <a:solidFill>
                  <a:schemeClr val="accent1"/>
                </a:solidFill>
              </a:rPr>
              <a:t> authentication complexity.</a:t>
            </a:r>
            <a:endParaRPr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AA84F"/>
                </a:solidFill>
              </a:rPr>
              <a:t>Solution</a:t>
            </a:r>
            <a:r>
              <a:rPr lang="en" sz="1500">
                <a:solidFill>
                  <a:schemeClr val="accent1"/>
                </a:solidFill>
              </a:rPr>
              <a:t>: Simplified with </a:t>
            </a:r>
            <a:r>
              <a:rPr b="1" lang="en" sz="1500">
                <a:solidFill>
                  <a:schemeClr val="accent1"/>
                </a:solidFill>
              </a:rPr>
              <a:t>gapi-script</a:t>
            </a:r>
            <a:r>
              <a:rPr lang="en" sz="1500">
                <a:solidFill>
                  <a:schemeClr val="accent1"/>
                </a:solidFill>
              </a:rPr>
              <a:t>, </a:t>
            </a:r>
            <a:r>
              <a:rPr b="1" lang="en" sz="1500">
                <a:solidFill>
                  <a:schemeClr val="accent1"/>
                </a:solidFill>
              </a:rPr>
              <a:t>tokenClient</a:t>
            </a:r>
            <a:r>
              <a:rPr lang="en" sz="1500">
                <a:solidFill>
                  <a:schemeClr val="accent1"/>
                </a:solidFill>
              </a:rPr>
              <a:t>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Challenge</a:t>
            </a:r>
            <a:r>
              <a:rPr lang="en" sz="1500">
                <a:solidFill>
                  <a:schemeClr val="accent1"/>
                </a:solidFill>
              </a:rPr>
              <a:t>: Noisy email text (e.g., HTML tags).</a:t>
            </a:r>
            <a:endParaRPr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AA84F"/>
                </a:solidFill>
              </a:rPr>
              <a:t>Solution</a:t>
            </a:r>
            <a:r>
              <a:rPr lang="en" sz="1500">
                <a:solidFill>
                  <a:schemeClr val="accent1"/>
                </a:solidFill>
              </a:rPr>
              <a:t>: </a:t>
            </a:r>
            <a:r>
              <a:rPr b="1" lang="en" sz="1500">
                <a:solidFill>
                  <a:schemeClr val="accent1"/>
                </a:solidFill>
              </a:rPr>
              <a:t>Regex</a:t>
            </a:r>
            <a:r>
              <a:rPr lang="en" sz="1500">
                <a:solidFill>
                  <a:schemeClr val="accent1"/>
                </a:solidFill>
              </a:rPr>
              <a:t>-based cleaning, robust preprocessing.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Challenge</a:t>
            </a:r>
            <a:r>
              <a:rPr lang="en" sz="1500">
                <a:solidFill>
                  <a:schemeClr val="accent1"/>
                </a:solidFill>
              </a:rPr>
              <a:t>: URL false positives(some safe URLs were wrongly flagged as phishing).</a:t>
            </a:r>
            <a:endParaRPr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AA84F"/>
                </a:solidFill>
              </a:rPr>
              <a:t>Solution</a:t>
            </a:r>
            <a:r>
              <a:rPr lang="en" sz="1500">
                <a:solidFill>
                  <a:schemeClr val="accent1"/>
                </a:solidFill>
              </a:rPr>
              <a:t>: I fixed this using a hybrid ML + heuristic approach, where keywords also helped score URLs.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Challenge</a:t>
            </a:r>
            <a:r>
              <a:rPr lang="en" sz="1500">
                <a:solidFill>
                  <a:schemeClr val="accent1"/>
                </a:solidFill>
              </a:rPr>
              <a:t>: Dataset imbalance (URL: 116K phishing vs. 100K safe).</a:t>
            </a:r>
            <a:endParaRPr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AA84F"/>
                </a:solidFill>
              </a:rPr>
              <a:t>Solution</a:t>
            </a:r>
            <a:r>
              <a:rPr lang="en" sz="1500">
                <a:solidFill>
                  <a:schemeClr val="accent1"/>
                </a:solidFill>
              </a:rPr>
              <a:t>: </a:t>
            </a:r>
            <a:r>
              <a:rPr b="1" lang="en" sz="1500">
                <a:solidFill>
                  <a:schemeClr val="accent1"/>
                </a:solidFill>
              </a:rPr>
              <a:t>Stratified sampling</a:t>
            </a:r>
            <a:r>
              <a:rPr lang="en" sz="1500">
                <a:solidFill>
                  <a:schemeClr val="accent1"/>
                </a:solidFill>
              </a:rPr>
              <a:t>, </a:t>
            </a:r>
            <a:r>
              <a:rPr b="1" lang="en" sz="1500">
                <a:solidFill>
                  <a:schemeClr val="accent1"/>
                </a:solidFill>
              </a:rPr>
              <a:t>feature engineering</a:t>
            </a:r>
            <a:r>
              <a:rPr lang="en" sz="1500">
                <a:solidFill>
                  <a:schemeClr val="accent1"/>
                </a:solidFill>
              </a:rPr>
              <a:t>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55"/>
          <p:cNvSpPr txBox="1"/>
          <p:nvPr>
            <p:ph type="title"/>
          </p:nvPr>
        </p:nvSpPr>
        <p:spPr>
          <a:xfrm>
            <a:off x="2604150" y="-141400"/>
            <a:ext cx="39357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5"/>
          <p:cNvSpPr txBox="1"/>
          <p:nvPr>
            <p:ph idx="1" type="body"/>
          </p:nvPr>
        </p:nvSpPr>
        <p:spPr>
          <a:xfrm>
            <a:off x="2372775" y="271575"/>
            <a:ext cx="4871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Email Phishing Detection Workflow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90" name="Google Shape;390;p55"/>
          <p:cNvSpPr txBox="1"/>
          <p:nvPr>
            <p:ph idx="3" type="subTitle"/>
          </p:nvPr>
        </p:nvSpPr>
        <p:spPr>
          <a:xfrm>
            <a:off x="972600" y="946100"/>
            <a:ext cx="7198800" cy="3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391" name="Google Shape;391;p55" title="email df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550" y="776425"/>
            <a:ext cx="6360099" cy="43333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/>
          <p:nvPr>
            <p:ph type="title"/>
          </p:nvPr>
        </p:nvSpPr>
        <p:spPr>
          <a:xfrm>
            <a:off x="339275" y="119550"/>
            <a:ext cx="6668700" cy="4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Email Phishing Detection Workflow:  </a:t>
            </a:r>
            <a:r>
              <a:rPr b="1"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Gmail Access Setup and Email Fetching</a:t>
            </a:r>
            <a:endParaRPr b="1" sz="1300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6"/>
          <p:cNvSpPr txBox="1"/>
          <p:nvPr>
            <p:ph idx="1" type="body"/>
          </p:nvPr>
        </p:nvSpPr>
        <p:spPr>
          <a:xfrm>
            <a:off x="339275" y="498050"/>
            <a:ext cx="9514500" cy="56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Authentication using Google Identity Services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Users authenticate through OAuth 2.0 flow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Once authenticated, secure access is granted to their Gmail inbox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Steps to Create OAuth Credentials: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Open Google Cloud Console and create a new project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Enable the Gmail API under "APIs &amp; Services" and Navigate to "OAuth consent screen" and configure the app details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Under "Credentials", create OAuth 2.0 Client ID and Choose application type as "Web application"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Add the redirect URI provided by Google Identity Services and Copy the generated Client ID and integrate it in the frontend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Fetching Emails via Gmail API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After authentication, the app uses the Gmail API to retrieve emails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Specifically fetches the 15 most recent emails from the inbox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Axios GET requests are made with the access token for secure data retrieval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7"/>
          <p:cNvSpPr txBox="1"/>
          <p:nvPr>
            <p:ph type="title"/>
          </p:nvPr>
        </p:nvSpPr>
        <p:spPr>
          <a:xfrm>
            <a:off x="461025" y="1764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Email Phishing Detection Workflow:  </a:t>
            </a:r>
            <a:endParaRPr/>
          </a:p>
        </p:txBody>
      </p:sp>
      <p:sp>
        <p:nvSpPr>
          <p:cNvPr id="404" name="Google Shape;404;p57"/>
          <p:cNvSpPr txBox="1"/>
          <p:nvPr>
            <p:ph idx="1" type="body"/>
          </p:nvPr>
        </p:nvSpPr>
        <p:spPr>
          <a:xfrm>
            <a:off x="334200" y="860025"/>
            <a:ext cx="8475600" cy="50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Preprocessing the Email Content</a:t>
            </a:r>
            <a:endParaRPr b="1"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Converts email text to lowercase for uniformity</a:t>
            </a:r>
            <a:b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Removes URLs, punctuation, and special characters using regular expressions</a:t>
            </a: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Feature Extraction using TF-IDF Vectorizer</a:t>
            </a:r>
            <a:endParaRPr b="1"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Transforms text data into numerical vectors</a:t>
            </a: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Phishing Detection using Logistic Regression</a:t>
            </a:r>
            <a:endParaRPr b="1"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trained logistic regression model analyzes the feature vectors</a:t>
            </a:r>
            <a:b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Emails with prediction probability greater than 0.5 are classified as phishing</a:t>
            </a:r>
            <a:b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Model achieves around 95 percent accuracy, 0.94 precision, and 0.96 ROC-AUC score</a:t>
            </a: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Displaying Results through React UI</a:t>
            </a:r>
            <a:endParaRPr b="1"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Each email is presented with sender information and a short snippet</a:t>
            </a:r>
            <a:b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Verdict is shown using visually distinct cards</a:t>
            </a:r>
            <a:br>
              <a:rPr lang="en"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title"/>
          </p:nvPr>
        </p:nvSpPr>
        <p:spPr>
          <a:xfrm>
            <a:off x="388300" y="119575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URL Phishing Detection Workflow</a:t>
            </a:r>
            <a:endParaRPr/>
          </a:p>
        </p:txBody>
      </p:sp>
      <p:pic>
        <p:nvPicPr>
          <p:cNvPr id="410" name="Google Shape;410;p58" title="url 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650" y="565975"/>
            <a:ext cx="6189425" cy="44948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9"/>
          <p:cNvSpPr txBox="1"/>
          <p:nvPr>
            <p:ph type="title"/>
          </p:nvPr>
        </p:nvSpPr>
        <p:spPr>
          <a:xfrm>
            <a:off x="940700" y="119550"/>
            <a:ext cx="7020900" cy="4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URL Phishing Detection Workflow– Input to Feature Extraction</a:t>
            </a:r>
            <a:endParaRPr b="1" sz="1700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9"/>
          <p:cNvSpPr txBox="1"/>
          <p:nvPr>
            <p:ph idx="1" type="body"/>
          </p:nvPr>
        </p:nvSpPr>
        <p:spPr>
          <a:xfrm>
            <a:off x="1378125" y="498050"/>
            <a:ext cx="8475600" cy="53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Step 1: User Input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User enters a URL into the input field on the interface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URL is sent to the server using Fetch API with a POST request to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/predict-url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route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Step 2: Feature Extraction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urlparse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is used to break down the URL into domain, path, and query components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Extracted features include: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Length of the URL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Whether HTTPS is used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Number of subdomains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Step 3: Web Content Analysis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BeautifulSoup is used to scrape the webpage’s content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Counts the frequency of keywords such as “login” and other suspicious terms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Applies a heuristic scoring system: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High risk (score &gt; 3)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Moderate risk (score 1–3)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– Low risk (score 0)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0"/>
          <p:cNvSpPr txBox="1"/>
          <p:nvPr>
            <p:ph type="title"/>
          </p:nvPr>
        </p:nvSpPr>
        <p:spPr>
          <a:xfrm>
            <a:off x="333925" y="587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URL Phishing Detection Workflow–  Model Prediction and Result Visualization</a:t>
            </a:r>
            <a:endParaRPr/>
          </a:p>
        </p:txBody>
      </p:sp>
      <p:sp>
        <p:nvSpPr>
          <p:cNvPr id="423" name="Google Shape;423;p60"/>
          <p:cNvSpPr txBox="1"/>
          <p:nvPr/>
        </p:nvSpPr>
        <p:spPr>
          <a:xfrm>
            <a:off x="421950" y="1187125"/>
            <a:ext cx="56325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</a:rPr>
              <a:t>Step 4: Prediction using Hybrid Model</a:t>
            </a:r>
            <a:endParaRPr b="1"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Logistic Regression model is applied on the extracted and scaled features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Achieves approximately 92 percent accuracy in classifying URLs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Heuristic score is used alongside the model output to adjust the final risk level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1"/>
                </a:solidFill>
              </a:rPr>
              <a:t>Step 5: Output Display through React UI</a:t>
            </a:r>
            <a:endParaRPr b="1"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Final result is displayed on the frontend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Shows whether the URL is safe, suspicious, or phishing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" sz="1100">
                <a:solidFill>
                  <a:schemeClr val="accent1"/>
                </a:solidFill>
              </a:rPr>
              <a:t>Risk is visually represented using color-coded cards:</a:t>
            </a:r>
            <a:br>
              <a:rPr lang="en" sz="1100">
                <a:solidFill>
                  <a:schemeClr val="accent1"/>
                </a:solidFill>
              </a:rPr>
            </a:br>
            <a:r>
              <a:rPr lang="en" sz="1100">
                <a:solidFill>
                  <a:schemeClr val="accent1"/>
                </a:solidFill>
              </a:rPr>
              <a:t> – Red for phishing</a:t>
            </a:r>
            <a:br>
              <a:rPr lang="en" sz="1100">
                <a:solidFill>
                  <a:schemeClr val="accent1"/>
                </a:solidFill>
              </a:rPr>
            </a:br>
            <a:r>
              <a:rPr lang="en" sz="1100">
                <a:solidFill>
                  <a:schemeClr val="accent1"/>
                </a:solidFill>
              </a:rPr>
              <a:t> – Yellow for suspicious</a:t>
            </a:r>
            <a:br>
              <a:rPr lang="en" sz="1100">
                <a:solidFill>
                  <a:schemeClr val="accent1"/>
                </a:solidFill>
              </a:rPr>
            </a:br>
            <a:r>
              <a:rPr lang="en" sz="1100">
                <a:solidFill>
                  <a:schemeClr val="accent1"/>
                </a:solidFill>
              </a:rPr>
              <a:t> – Green for safe</a:t>
            </a:r>
            <a:br>
              <a:rPr lang="en" sz="1100">
                <a:solidFill>
                  <a:schemeClr val="accent1"/>
                </a:solidFill>
              </a:rPr>
            </a:br>
            <a:endParaRPr sz="11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61"/>
          <p:cNvSpPr txBox="1"/>
          <p:nvPr>
            <p:ph type="title"/>
          </p:nvPr>
        </p:nvSpPr>
        <p:spPr>
          <a:xfrm>
            <a:off x="434125" y="498050"/>
            <a:ext cx="8475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1"/>
          <p:cNvSpPr txBox="1"/>
          <p:nvPr>
            <p:ph idx="1" type="body"/>
          </p:nvPr>
        </p:nvSpPr>
        <p:spPr>
          <a:xfrm>
            <a:off x="434125" y="1141425"/>
            <a:ext cx="8475600" cy="41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Email Model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(Phishing.csv):   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90.5%, 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Safe (0.86), Phishing (1.00).,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Safe (1.00), Phishing (0.77).,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Safe (0.93), Phishing (0.8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7)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Safe (113), Phishing (77),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Macro Avg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Precision (0.93), Recall (0.88), F1 (0.90)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URL Model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(cleaned_url_dataset.csv):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99.98%.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116,286 phishing, 100,944 safe URLs.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Stratified 80-20 split.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r>
              <a:rPr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Minimal false positives/negatives for URLs.</a:t>
            </a:r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2"/>
          <p:cNvSpPr txBox="1"/>
          <p:nvPr>
            <p:ph type="title"/>
          </p:nvPr>
        </p:nvSpPr>
        <p:spPr>
          <a:xfrm>
            <a:off x="388300" y="2935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sp>
        <p:nvSpPr>
          <p:cNvPr id="436" name="Google Shape;436;p62"/>
          <p:cNvSpPr txBox="1"/>
          <p:nvPr/>
        </p:nvSpPr>
        <p:spPr>
          <a:xfrm>
            <a:off x="3014325" y="1613725"/>
            <a:ext cx="615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7" name="Google Shape;43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0" y="909150"/>
            <a:ext cx="4482825" cy="4045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8" name="Google Shape;43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475" y="580050"/>
            <a:ext cx="4049725" cy="44590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3"/>
          <p:cNvSpPr txBox="1"/>
          <p:nvPr>
            <p:ph type="title"/>
          </p:nvPr>
        </p:nvSpPr>
        <p:spPr>
          <a:xfrm>
            <a:off x="2544925" y="22310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THANK YOU</a:t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